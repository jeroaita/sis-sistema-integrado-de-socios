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7" roundtripDataSignature="AMtx7mg0WuXrbDHyA5DQN5gKB9eSPqCw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slide" Target="slides/slide41.xml"/><Relationship Id="rId23" Type="http://schemas.openxmlformats.org/officeDocument/2006/relationships/slide" Target="slides/slide18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customschemas.google.com/relationships/presentationmetadata" Target="meta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575dfa87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7" name="Google Shape;167;g3575dfa87c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5" name="Google Shape;21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d220ca5a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d220ca5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7b4a640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g377b4a640d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7b4a640d3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g377b4a640d3_1_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77b4a640d3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g377b4a640d3_1_9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77b4a640d3_1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g377b4a640d3_1_8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7b4a640d3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g377b4a640d3_1_1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77b4a640d3_1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77b4a640d3_1_10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d220ca5a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7" name="Google Shape;267;g39d220ca5a7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a27d512f2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g3a27d512f2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d220ca5a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7" name="Google Shape;277;g39d220ca5a7_0_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77b4a640d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2" name="Google Shape;282;g377b4a640d3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7b4a640d3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g377b4a640d3_1_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77b4a640d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g377b4a640d3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77b4a640d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9" name="Google Shape;299;g377b4a640d3_0_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77b4a640d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g377b4a640d3_1_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77b4a640d3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9" name="Google Shape;309;g377b4a640d3_1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7b4a640d3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4" name="Google Shape;314;g377b4a640d3_1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7b4a640d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g377b4a640d3_1_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77b4a640d3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4" name="Google Shape;324;g377b4a640d3_1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77b4a640d3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77b4a640d3_1_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77b4a640d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g377b4a640d3_1_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77b4a640d3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7" name="Google Shape;337;g377b4a640d3_1_6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7b4a640d3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g377b4a640d3_1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7b4a640d3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6" name="Google Shape;346;g377b4a640d3_1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9dfc764d2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Cambiar la presentación por una demostración del sistema funcionando, si es que lo tenemos funcional para la fecha.</a:t>
            </a:r>
            <a:endParaRPr/>
          </a:p>
        </p:txBody>
      </p:sp>
      <p:sp>
        <p:nvSpPr>
          <p:cNvPr id="350" name="Google Shape;350;g39dfc764d2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6ceb680b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Cambiar la presentación por una demostración del sistema funcionando, si es que lo tenemos funcional para la fecha.</a:t>
            </a:r>
            <a:endParaRPr/>
          </a:p>
        </p:txBody>
      </p:sp>
      <p:sp>
        <p:nvSpPr>
          <p:cNvPr id="355" name="Google Shape;355;g36ceb680be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6ceb680be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Cambiar la presentación por una demostración del sistema funcionando, si es que lo tenemos funcional para la fecha.</a:t>
            </a:r>
            <a:endParaRPr/>
          </a:p>
        </p:txBody>
      </p:sp>
      <p:sp>
        <p:nvSpPr>
          <p:cNvPr id="363" name="Google Shape;363;g36ceb680be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36ceb680be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Cambiar la presentación por una demostración del sistema funcionando, si es que lo tenemos funcional para la fecha.</a:t>
            </a:r>
            <a:endParaRPr/>
          </a:p>
        </p:txBody>
      </p:sp>
      <p:sp>
        <p:nvSpPr>
          <p:cNvPr id="372" name="Google Shape;372;g36ceb680be2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6ceb680be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Cambiar la presentación por una demostración del sistema funcionando, si es que lo tenemos funcional para la fecha.</a:t>
            </a:r>
            <a:endParaRPr/>
          </a:p>
        </p:txBody>
      </p:sp>
      <p:sp>
        <p:nvSpPr>
          <p:cNvPr id="381" name="Google Shape;381;g36ceb680be2_0_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d220ca5a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Cambiar la presentaci</a:t>
            </a:r>
            <a:r>
              <a:rPr lang="en-US"/>
              <a:t>ón por una demostración del sistema funcionando, si es que lo tenemos funcional para la fecha.</a:t>
            </a:r>
            <a:endParaRPr/>
          </a:p>
        </p:txBody>
      </p:sp>
      <p:sp>
        <p:nvSpPr>
          <p:cNvPr id="389" name="Google Shape;389;g39d220ca5a7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4" name="Google Shape;394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AE5F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jp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6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png"/><Relationship Id="rId4" Type="http://schemas.openxmlformats.org/officeDocument/2006/relationships/image" Target="../media/image36.png"/><Relationship Id="rId5" Type="http://schemas.openxmlformats.org/officeDocument/2006/relationships/image" Target="../media/image2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3.png"/><Relationship Id="rId4" Type="http://schemas.openxmlformats.org/officeDocument/2006/relationships/image" Target="../media/image29.png"/><Relationship Id="rId5" Type="http://schemas.openxmlformats.org/officeDocument/2006/relationships/image" Target="../media/image3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1.jpg"/><Relationship Id="rId4" Type="http://schemas.openxmlformats.org/officeDocument/2006/relationships/hyperlink" Target="mailto:jaita@frd.utn.edu.ar" TargetMode="External"/><Relationship Id="rId5" Type="http://schemas.openxmlformats.org/officeDocument/2006/relationships/hyperlink" Target="mailto:nfernandez@frd.utn.edu.ar" TargetMode="External"/><Relationship Id="rId6" Type="http://schemas.openxmlformats.org/officeDocument/2006/relationships/hyperlink" Target="mailto:tmactavish@frd.utn.edu.ar" TargetMode="External"/><Relationship Id="rId7" Type="http://schemas.openxmlformats.org/officeDocument/2006/relationships/hyperlink" Target="mailto:frugiero.@frd.utn.edu.a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2594505" y="7564466"/>
            <a:ext cx="4215184" cy="1998634"/>
            <a:chOff x="0" y="-47625"/>
            <a:chExt cx="1110172" cy="436276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1110172" cy="388651"/>
            </a:xfrm>
            <a:custGeom>
              <a:rect b="b" l="l" r="r" t="t"/>
              <a:pathLst>
                <a:path extrusionOk="0" h="388651" w="1110172">
                  <a:moveTo>
                    <a:pt x="91834" y="0"/>
                  </a:moveTo>
                  <a:lnTo>
                    <a:pt x="1018338" y="0"/>
                  </a:lnTo>
                  <a:cubicBezTo>
                    <a:pt x="1042694" y="0"/>
                    <a:pt x="1066052" y="9675"/>
                    <a:pt x="1083274" y="26897"/>
                  </a:cubicBezTo>
                  <a:cubicBezTo>
                    <a:pt x="1100497" y="44120"/>
                    <a:pt x="1110172" y="67478"/>
                    <a:pt x="1110172" y="91834"/>
                  </a:cubicBezTo>
                  <a:lnTo>
                    <a:pt x="1110172" y="296817"/>
                  </a:lnTo>
                  <a:cubicBezTo>
                    <a:pt x="1110172" y="321173"/>
                    <a:pt x="1100497" y="344531"/>
                    <a:pt x="1083274" y="361753"/>
                  </a:cubicBezTo>
                  <a:cubicBezTo>
                    <a:pt x="1066052" y="378975"/>
                    <a:pt x="1042694" y="388651"/>
                    <a:pt x="1018338" y="388651"/>
                  </a:cubicBezTo>
                  <a:lnTo>
                    <a:pt x="91834" y="388651"/>
                  </a:lnTo>
                  <a:cubicBezTo>
                    <a:pt x="67478" y="388651"/>
                    <a:pt x="44120" y="378975"/>
                    <a:pt x="26897" y="361753"/>
                  </a:cubicBezTo>
                  <a:cubicBezTo>
                    <a:pt x="9675" y="344531"/>
                    <a:pt x="0" y="321173"/>
                    <a:pt x="0" y="296817"/>
                  </a:cubicBezTo>
                  <a:lnTo>
                    <a:pt x="0" y="91834"/>
                  </a:lnTo>
                  <a:cubicBezTo>
                    <a:pt x="0" y="67478"/>
                    <a:pt x="9675" y="44120"/>
                    <a:pt x="26897" y="26897"/>
                  </a:cubicBezTo>
                  <a:cubicBezTo>
                    <a:pt x="44120" y="9675"/>
                    <a:pt x="67478" y="0"/>
                    <a:pt x="91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1110172" cy="436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2594505" y="882222"/>
            <a:ext cx="4215184" cy="1656484"/>
            <a:chOff x="0" y="-47625"/>
            <a:chExt cx="1110172" cy="436276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1110172" cy="388651"/>
            </a:xfrm>
            <a:custGeom>
              <a:rect b="b" l="l" r="r" t="t"/>
              <a:pathLst>
                <a:path extrusionOk="0" h="388651" w="1110172">
                  <a:moveTo>
                    <a:pt x="91834" y="0"/>
                  </a:moveTo>
                  <a:lnTo>
                    <a:pt x="1018338" y="0"/>
                  </a:lnTo>
                  <a:cubicBezTo>
                    <a:pt x="1042694" y="0"/>
                    <a:pt x="1066052" y="9675"/>
                    <a:pt x="1083274" y="26897"/>
                  </a:cubicBezTo>
                  <a:cubicBezTo>
                    <a:pt x="1100497" y="44120"/>
                    <a:pt x="1110172" y="67478"/>
                    <a:pt x="1110172" y="91834"/>
                  </a:cubicBezTo>
                  <a:lnTo>
                    <a:pt x="1110172" y="296817"/>
                  </a:lnTo>
                  <a:cubicBezTo>
                    <a:pt x="1110172" y="321173"/>
                    <a:pt x="1100497" y="344531"/>
                    <a:pt x="1083274" y="361753"/>
                  </a:cubicBezTo>
                  <a:cubicBezTo>
                    <a:pt x="1066052" y="378975"/>
                    <a:pt x="1042694" y="388651"/>
                    <a:pt x="1018338" y="388651"/>
                  </a:cubicBezTo>
                  <a:lnTo>
                    <a:pt x="91834" y="388651"/>
                  </a:lnTo>
                  <a:cubicBezTo>
                    <a:pt x="67478" y="388651"/>
                    <a:pt x="44120" y="378975"/>
                    <a:pt x="26897" y="361753"/>
                  </a:cubicBezTo>
                  <a:cubicBezTo>
                    <a:pt x="9675" y="344531"/>
                    <a:pt x="0" y="321173"/>
                    <a:pt x="0" y="296817"/>
                  </a:cubicBezTo>
                  <a:lnTo>
                    <a:pt x="0" y="91834"/>
                  </a:lnTo>
                  <a:cubicBezTo>
                    <a:pt x="0" y="67478"/>
                    <a:pt x="9675" y="44120"/>
                    <a:pt x="26897" y="26897"/>
                  </a:cubicBezTo>
                  <a:cubicBezTo>
                    <a:pt x="44120" y="9675"/>
                    <a:pt x="67478" y="0"/>
                    <a:pt x="91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1110172" cy="436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" name="Google Shape;90;p1"/>
          <p:cNvGrpSpPr/>
          <p:nvPr/>
        </p:nvGrpSpPr>
        <p:grpSpPr>
          <a:xfrm>
            <a:off x="11478311" y="882222"/>
            <a:ext cx="4215184" cy="1656484"/>
            <a:chOff x="0" y="-47625"/>
            <a:chExt cx="1110172" cy="436276"/>
          </a:xfrm>
        </p:grpSpPr>
        <p:sp>
          <p:nvSpPr>
            <p:cNvPr id="91" name="Google Shape;91;p1"/>
            <p:cNvSpPr/>
            <p:nvPr/>
          </p:nvSpPr>
          <p:spPr>
            <a:xfrm>
              <a:off x="0" y="0"/>
              <a:ext cx="1110172" cy="388651"/>
            </a:xfrm>
            <a:custGeom>
              <a:rect b="b" l="l" r="r" t="t"/>
              <a:pathLst>
                <a:path extrusionOk="0" h="388651" w="1110172">
                  <a:moveTo>
                    <a:pt x="91834" y="0"/>
                  </a:moveTo>
                  <a:lnTo>
                    <a:pt x="1018338" y="0"/>
                  </a:lnTo>
                  <a:cubicBezTo>
                    <a:pt x="1042694" y="0"/>
                    <a:pt x="1066052" y="9675"/>
                    <a:pt x="1083274" y="26897"/>
                  </a:cubicBezTo>
                  <a:cubicBezTo>
                    <a:pt x="1100497" y="44120"/>
                    <a:pt x="1110172" y="67478"/>
                    <a:pt x="1110172" y="91834"/>
                  </a:cubicBezTo>
                  <a:lnTo>
                    <a:pt x="1110172" y="296817"/>
                  </a:lnTo>
                  <a:cubicBezTo>
                    <a:pt x="1110172" y="321173"/>
                    <a:pt x="1100497" y="344531"/>
                    <a:pt x="1083274" y="361753"/>
                  </a:cubicBezTo>
                  <a:cubicBezTo>
                    <a:pt x="1066052" y="378975"/>
                    <a:pt x="1042694" y="388651"/>
                    <a:pt x="1018338" y="388651"/>
                  </a:cubicBezTo>
                  <a:lnTo>
                    <a:pt x="91834" y="388651"/>
                  </a:lnTo>
                  <a:cubicBezTo>
                    <a:pt x="67478" y="388651"/>
                    <a:pt x="44120" y="378975"/>
                    <a:pt x="26897" y="361753"/>
                  </a:cubicBezTo>
                  <a:cubicBezTo>
                    <a:pt x="9675" y="344531"/>
                    <a:pt x="0" y="321173"/>
                    <a:pt x="0" y="296817"/>
                  </a:cubicBezTo>
                  <a:lnTo>
                    <a:pt x="0" y="91834"/>
                  </a:lnTo>
                  <a:cubicBezTo>
                    <a:pt x="0" y="67478"/>
                    <a:pt x="9675" y="44120"/>
                    <a:pt x="26897" y="26897"/>
                  </a:cubicBezTo>
                  <a:cubicBezTo>
                    <a:pt x="44120" y="9675"/>
                    <a:pt x="67478" y="0"/>
                    <a:pt x="91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0" y="-47625"/>
              <a:ext cx="1110172" cy="436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" name="Google Shape;93;p1"/>
          <p:cNvGrpSpPr/>
          <p:nvPr/>
        </p:nvGrpSpPr>
        <p:grpSpPr>
          <a:xfrm>
            <a:off x="7036405" y="7588676"/>
            <a:ext cx="4215184" cy="1998634"/>
            <a:chOff x="0" y="-47625"/>
            <a:chExt cx="1110172" cy="436276"/>
          </a:xfrm>
        </p:grpSpPr>
        <p:sp>
          <p:nvSpPr>
            <p:cNvPr id="94" name="Google Shape;94;p1"/>
            <p:cNvSpPr/>
            <p:nvPr/>
          </p:nvSpPr>
          <p:spPr>
            <a:xfrm>
              <a:off x="0" y="0"/>
              <a:ext cx="1110172" cy="388651"/>
            </a:xfrm>
            <a:custGeom>
              <a:rect b="b" l="l" r="r" t="t"/>
              <a:pathLst>
                <a:path extrusionOk="0" h="388651" w="1110172">
                  <a:moveTo>
                    <a:pt x="91834" y="0"/>
                  </a:moveTo>
                  <a:lnTo>
                    <a:pt x="1018338" y="0"/>
                  </a:lnTo>
                  <a:cubicBezTo>
                    <a:pt x="1042694" y="0"/>
                    <a:pt x="1066052" y="9675"/>
                    <a:pt x="1083274" y="26897"/>
                  </a:cubicBezTo>
                  <a:cubicBezTo>
                    <a:pt x="1100497" y="44120"/>
                    <a:pt x="1110172" y="67478"/>
                    <a:pt x="1110172" y="91834"/>
                  </a:cubicBezTo>
                  <a:lnTo>
                    <a:pt x="1110172" y="296817"/>
                  </a:lnTo>
                  <a:cubicBezTo>
                    <a:pt x="1110172" y="321173"/>
                    <a:pt x="1100497" y="344531"/>
                    <a:pt x="1083274" y="361753"/>
                  </a:cubicBezTo>
                  <a:cubicBezTo>
                    <a:pt x="1066052" y="378975"/>
                    <a:pt x="1042694" y="388651"/>
                    <a:pt x="1018338" y="388651"/>
                  </a:cubicBezTo>
                  <a:lnTo>
                    <a:pt x="91834" y="388651"/>
                  </a:lnTo>
                  <a:cubicBezTo>
                    <a:pt x="67478" y="388651"/>
                    <a:pt x="44120" y="378975"/>
                    <a:pt x="26897" y="361753"/>
                  </a:cubicBezTo>
                  <a:cubicBezTo>
                    <a:pt x="9675" y="344531"/>
                    <a:pt x="0" y="321173"/>
                    <a:pt x="0" y="296817"/>
                  </a:cubicBezTo>
                  <a:lnTo>
                    <a:pt x="0" y="91834"/>
                  </a:lnTo>
                  <a:cubicBezTo>
                    <a:pt x="0" y="67478"/>
                    <a:pt x="9675" y="44120"/>
                    <a:pt x="26897" y="26897"/>
                  </a:cubicBezTo>
                  <a:cubicBezTo>
                    <a:pt x="44120" y="9675"/>
                    <a:pt x="67478" y="0"/>
                    <a:pt x="91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1"/>
            <p:cNvSpPr txBox="1"/>
            <p:nvPr/>
          </p:nvSpPr>
          <p:spPr>
            <a:xfrm>
              <a:off x="0" y="-47625"/>
              <a:ext cx="1110172" cy="436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6" name="Google Shape;96;p1"/>
          <p:cNvGrpSpPr/>
          <p:nvPr/>
        </p:nvGrpSpPr>
        <p:grpSpPr>
          <a:xfrm>
            <a:off x="11546674" y="7564466"/>
            <a:ext cx="4215184" cy="1998634"/>
            <a:chOff x="0" y="-47625"/>
            <a:chExt cx="1110172" cy="436276"/>
          </a:xfrm>
        </p:grpSpPr>
        <p:sp>
          <p:nvSpPr>
            <p:cNvPr id="97" name="Google Shape;97;p1"/>
            <p:cNvSpPr/>
            <p:nvPr/>
          </p:nvSpPr>
          <p:spPr>
            <a:xfrm>
              <a:off x="0" y="0"/>
              <a:ext cx="1110172" cy="388651"/>
            </a:xfrm>
            <a:custGeom>
              <a:rect b="b" l="l" r="r" t="t"/>
              <a:pathLst>
                <a:path extrusionOk="0" h="388651" w="1110172">
                  <a:moveTo>
                    <a:pt x="91834" y="0"/>
                  </a:moveTo>
                  <a:lnTo>
                    <a:pt x="1018338" y="0"/>
                  </a:lnTo>
                  <a:cubicBezTo>
                    <a:pt x="1042694" y="0"/>
                    <a:pt x="1066052" y="9675"/>
                    <a:pt x="1083274" y="26897"/>
                  </a:cubicBezTo>
                  <a:cubicBezTo>
                    <a:pt x="1100497" y="44120"/>
                    <a:pt x="1110172" y="67478"/>
                    <a:pt x="1110172" y="91834"/>
                  </a:cubicBezTo>
                  <a:lnTo>
                    <a:pt x="1110172" y="296817"/>
                  </a:lnTo>
                  <a:cubicBezTo>
                    <a:pt x="1110172" y="321173"/>
                    <a:pt x="1100497" y="344531"/>
                    <a:pt x="1083274" y="361753"/>
                  </a:cubicBezTo>
                  <a:cubicBezTo>
                    <a:pt x="1066052" y="378975"/>
                    <a:pt x="1042694" y="388651"/>
                    <a:pt x="1018338" y="388651"/>
                  </a:cubicBezTo>
                  <a:lnTo>
                    <a:pt x="91834" y="388651"/>
                  </a:lnTo>
                  <a:cubicBezTo>
                    <a:pt x="67478" y="388651"/>
                    <a:pt x="44120" y="378975"/>
                    <a:pt x="26897" y="361753"/>
                  </a:cubicBezTo>
                  <a:cubicBezTo>
                    <a:pt x="9675" y="344531"/>
                    <a:pt x="0" y="321173"/>
                    <a:pt x="0" y="296817"/>
                  </a:cubicBezTo>
                  <a:lnTo>
                    <a:pt x="0" y="91834"/>
                  </a:lnTo>
                  <a:cubicBezTo>
                    <a:pt x="0" y="67478"/>
                    <a:pt x="9675" y="44120"/>
                    <a:pt x="26897" y="26897"/>
                  </a:cubicBezTo>
                  <a:cubicBezTo>
                    <a:pt x="44120" y="9675"/>
                    <a:pt x="67478" y="0"/>
                    <a:pt x="918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"/>
            <p:cNvSpPr txBox="1"/>
            <p:nvPr/>
          </p:nvSpPr>
          <p:spPr>
            <a:xfrm>
              <a:off x="0" y="-47625"/>
              <a:ext cx="1110172" cy="436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"/>
          <p:cNvGrpSpPr/>
          <p:nvPr/>
        </p:nvGrpSpPr>
        <p:grpSpPr>
          <a:xfrm>
            <a:off x="2594505" y="2581441"/>
            <a:ext cx="13098989" cy="4943292"/>
            <a:chOff x="0" y="-47625"/>
            <a:chExt cx="3449940" cy="1301937"/>
          </a:xfrm>
        </p:grpSpPr>
        <p:sp>
          <p:nvSpPr>
            <p:cNvPr id="100" name="Google Shape;100;p1"/>
            <p:cNvSpPr/>
            <p:nvPr/>
          </p:nvSpPr>
          <p:spPr>
            <a:xfrm>
              <a:off x="0" y="0"/>
              <a:ext cx="3449939" cy="1254312"/>
            </a:xfrm>
            <a:custGeom>
              <a:rect b="b" l="l" r="r" t="t"/>
              <a:pathLst>
                <a:path extrusionOk="0" h="1254312" w="3449939">
                  <a:moveTo>
                    <a:pt x="29552" y="0"/>
                  </a:moveTo>
                  <a:lnTo>
                    <a:pt x="3420388" y="0"/>
                  </a:lnTo>
                  <a:cubicBezTo>
                    <a:pt x="3436709" y="0"/>
                    <a:pt x="3449939" y="13231"/>
                    <a:pt x="3449939" y="29552"/>
                  </a:cubicBezTo>
                  <a:lnTo>
                    <a:pt x="3449939" y="1224761"/>
                  </a:lnTo>
                  <a:cubicBezTo>
                    <a:pt x="3449939" y="1241081"/>
                    <a:pt x="3436709" y="1254312"/>
                    <a:pt x="3420388" y="1254312"/>
                  </a:cubicBezTo>
                  <a:lnTo>
                    <a:pt x="29552" y="1254312"/>
                  </a:lnTo>
                  <a:cubicBezTo>
                    <a:pt x="13231" y="1254312"/>
                    <a:pt x="0" y="1241081"/>
                    <a:pt x="0" y="1224761"/>
                  </a:cubicBezTo>
                  <a:lnTo>
                    <a:pt x="0" y="29552"/>
                  </a:lnTo>
                  <a:cubicBezTo>
                    <a:pt x="0" y="13231"/>
                    <a:pt x="13231" y="0"/>
                    <a:pt x="295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"/>
            <p:cNvSpPr txBox="1"/>
            <p:nvPr/>
          </p:nvSpPr>
          <p:spPr>
            <a:xfrm>
              <a:off x="0" y="-47625"/>
              <a:ext cx="3449940" cy="1301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2" name="Google Shape;102;p1"/>
          <p:cNvGrpSpPr/>
          <p:nvPr/>
        </p:nvGrpSpPr>
        <p:grpSpPr>
          <a:xfrm>
            <a:off x="2997140" y="3224770"/>
            <a:ext cx="12293719" cy="3311204"/>
            <a:chOff x="0" y="-142875"/>
            <a:chExt cx="16391626" cy="4414939"/>
          </a:xfrm>
        </p:grpSpPr>
        <p:sp>
          <p:nvSpPr>
            <p:cNvPr id="103" name="Google Shape;103;p1"/>
            <p:cNvSpPr txBox="1"/>
            <p:nvPr/>
          </p:nvSpPr>
          <p:spPr>
            <a:xfrm>
              <a:off x="0" y="-142875"/>
              <a:ext cx="16391626" cy="752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23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"/>
            <p:cNvSpPr txBox="1"/>
            <p:nvPr/>
          </p:nvSpPr>
          <p:spPr>
            <a:xfrm>
              <a:off x="0" y="3670719"/>
              <a:ext cx="16391626" cy="6013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723158"/>
              <a:ext cx="16391626" cy="28975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99"/>
                <a:buFont typeface="Arial"/>
                <a:buNone/>
              </a:pPr>
              <a:r>
                <a:rPr b="1" i="0" lang="en-US" sz="80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S.I.S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b="1" i="0" lang="en-US" sz="6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Sistema Integrado de Socios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" name="Google Shape;106;p1"/>
          <p:cNvSpPr/>
          <p:nvPr/>
        </p:nvSpPr>
        <p:spPr>
          <a:xfrm>
            <a:off x="2865340" y="1240666"/>
            <a:ext cx="3673514" cy="1120422"/>
          </a:xfrm>
          <a:custGeom>
            <a:rect b="b" l="l" r="r" t="t"/>
            <a:pathLst>
              <a:path extrusionOk="0" h="1120422" w="3673514">
                <a:moveTo>
                  <a:pt x="0" y="0"/>
                </a:moveTo>
                <a:lnTo>
                  <a:pt x="3673514" y="0"/>
                </a:lnTo>
                <a:lnTo>
                  <a:pt x="3673514" y="1120422"/>
                </a:lnTo>
                <a:lnTo>
                  <a:pt x="0" y="11204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1323724" y="1142320"/>
            <a:ext cx="4369800" cy="13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rPr b="1" i="0" lang="en-US" sz="26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3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rPr b="1" i="0" lang="en-US" sz="26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3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5"/>
              <a:buFont typeface="Arial"/>
              <a:buNone/>
            </a:pPr>
            <a:r>
              <a:rPr b="1" i="0" lang="en-US" sz="266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" name="Google Shape;108;p1"/>
          <p:cNvGrpSpPr/>
          <p:nvPr/>
        </p:nvGrpSpPr>
        <p:grpSpPr>
          <a:xfrm>
            <a:off x="2997140" y="7795674"/>
            <a:ext cx="3677850" cy="1736463"/>
            <a:chOff x="0" y="-47625"/>
            <a:chExt cx="4903800" cy="2315284"/>
          </a:xfrm>
        </p:grpSpPr>
        <p:sp>
          <p:nvSpPr>
            <p:cNvPr id="109" name="Google Shape;109;p1"/>
            <p:cNvSpPr txBox="1"/>
            <p:nvPr/>
          </p:nvSpPr>
          <p:spPr>
            <a:xfrm>
              <a:off x="0" y="-47625"/>
              <a:ext cx="49038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Integrantes: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 txBox="1"/>
            <p:nvPr/>
          </p:nvSpPr>
          <p:spPr>
            <a:xfrm>
              <a:off x="0" y="465859"/>
              <a:ext cx="4903800" cy="18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42900" lvl="0" marL="342900" marR="0" rtl="0" algn="just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Aita Jerónimo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just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Fernández Nicolás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just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Mactavish Tomás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42900" lvl="0" marL="342900" marR="0" rtl="0" algn="just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Char char="•"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Rugiero Fausto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" name="Google Shape;111;p1"/>
          <p:cNvGrpSpPr/>
          <p:nvPr/>
        </p:nvGrpSpPr>
        <p:grpSpPr>
          <a:xfrm>
            <a:off x="7396273" y="7953716"/>
            <a:ext cx="3529632" cy="638844"/>
            <a:chOff x="0" y="66397"/>
            <a:chExt cx="4706177" cy="851792"/>
          </a:xfrm>
        </p:grpSpPr>
        <p:sp>
          <p:nvSpPr>
            <p:cNvPr id="112" name="Google Shape;112;p1"/>
            <p:cNvSpPr txBox="1"/>
            <p:nvPr/>
          </p:nvSpPr>
          <p:spPr>
            <a:xfrm>
              <a:off x="45579" y="66397"/>
              <a:ext cx="4660598" cy="452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Profesores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 txBox="1"/>
            <p:nvPr/>
          </p:nvSpPr>
          <p:spPr>
            <a:xfrm>
              <a:off x="0" y="465857"/>
              <a:ext cx="4660598" cy="452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1"/>
          <p:cNvGrpSpPr/>
          <p:nvPr/>
        </p:nvGrpSpPr>
        <p:grpSpPr>
          <a:xfrm>
            <a:off x="12078811" y="8255461"/>
            <a:ext cx="3677627" cy="687044"/>
            <a:chOff x="-1" y="-39801"/>
            <a:chExt cx="4903501" cy="916059"/>
          </a:xfrm>
        </p:grpSpPr>
        <p:sp>
          <p:nvSpPr>
            <p:cNvPr id="115" name="Google Shape;115;p1"/>
            <p:cNvSpPr txBox="1"/>
            <p:nvPr/>
          </p:nvSpPr>
          <p:spPr>
            <a:xfrm>
              <a:off x="-1" y="-39801"/>
              <a:ext cx="4903470" cy="3932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Fecha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 txBox="1"/>
            <p:nvPr/>
          </p:nvSpPr>
          <p:spPr>
            <a:xfrm>
              <a:off x="0" y="465858"/>
              <a:ext cx="49035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lang="en-US" sz="2000"/>
                <a:t>8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/</a:t>
              </a:r>
              <a:r>
                <a:rPr lang="en-US" sz="2000"/>
                <a:t>10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/2025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"/>
          <p:cNvSpPr txBox="1"/>
          <p:nvPr/>
        </p:nvSpPr>
        <p:spPr>
          <a:xfrm>
            <a:off x="7341826" y="8356908"/>
            <a:ext cx="3495448" cy="884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Badino Marcelo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Leibouski Ariel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Viera Sergio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Gimnasio vacío con bicicletas de spin y otros equipos" id="122" name="Google Shape;122;p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-937116" y="-209550"/>
            <a:ext cx="19905416" cy="10706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2"/>
          <p:cNvGrpSpPr/>
          <p:nvPr/>
        </p:nvGrpSpPr>
        <p:grpSpPr>
          <a:xfrm>
            <a:off x="4506059" y="1869978"/>
            <a:ext cx="9438541" cy="5330922"/>
            <a:chOff x="0" y="-47625"/>
            <a:chExt cx="2443030" cy="1301937"/>
          </a:xfrm>
        </p:grpSpPr>
        <p:sp>
          <p:nvSpPr>
            <p:cNvPr id="124" name="Google Shape;124;p2"/>
            <p:cNvSpPr/>
            <p:nvPr/>
          </p:nvSpPr>
          <p:spPr>
            <a:xfrm>
              <a:off x="0" y="0"/>
              <a:ext cx="2443030" cy="1254312"/>
            </a:xfrm>
            <a:custGeom>
              <a:rect b="b" l="l" r="r" t="t"/>
              <a:pathLst>
                <a:path extrusionOk="0" h="1254312" w="2443030">
                  <a:moveTo>
                    <a:pt x="41731" y="0"/>
                  </a:moveTo>
                  <a:lnTo>
                    <a:pt x="2401299" y="0"/>
                  </a:lnTo>
                  <a:cubicBezTo>
                    <a:pt x="2412367" y="0"/>
                    <a:pt x="2422981" y="4397"/>
                    <a:pt x="2430807" y="12223"/>
                  </a:cubicBezTo>
                  <a:cubicBezTo>
                    <a:pt x="2438634" y="20049"/>
                    <a:pt x="2443030" y="30664"/>
                    <a:pt x="2443030" y="41731"/>
                  </a:cubicBezTo>
                  <a:lnTo>
                    <a:pt x="2443030" y="1212581"/>
                  </a:lnTo>
                  <a:cubicBezTo>
                    <a:pt x="2443030" y="1223648"/>
                    <a:pt x="2438634" y="1234263"/>
                    <a:pt x="2430807" y="1242089"/>
                  </a:cubicBezTo>
                  <a:cubicBezTo>
                    <a:pt x="2422981" y="1249915"/>
                    <a:pt x="2412367" y="1254312"/>
                    <a:pt x="2401299" y="1254312"/>
                  </a:cubicBezTo>
                  <a:lnTo>
                    <a:pt x="41731" y="1254312"/>
                  </a:lnTo>
                  <a:cubicBezTo>
                    <a:pt x="30664" y="1254312"/>
                    <a:pt x="20049" y="1249915"/>
                    <a:pt x="12223" y="1242089"/>
                  </a:cubicBezTo>
                  <a:cubicBezTo>
                    <a:pt x="4397" y="1234263"/>
                    <a:pt x="0" y="1223648"/>
                    <a:pt x="0" y="1212581"/>
                  </a:cubicBezTo>
                  <a:lnTo>
                    <a:pt x="0" y="41731"/>
                  </a:lnTo>
                  <a:cubicBezTo>
                    <a:pt x="0" y="30664"/>
                    <a:pt x="4397" y="20049"/>
                    <a:pt x="12223" y="12223"/>
                  </a:cubicBezTo>
                  <a:cubicBezTo>
                    <a:pt x="20049" y="4397"/>
                    <a:pt x="30664" y="0"/>
                    <a:pt x="4173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2"/>
            <p:cNvSpPr txBox="1"/>
            <p:nvPr/>
          </p:nvSpPr>
          <p:spPr>
            <a:xfrm>
              <a:off x="0" y="-47625"/>
              <a:ext cx="2443030" cy="13019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6277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600"/>
                <a:buFont typeface="Arial"/>
                <a:buNone/>
              </a:pPr>
              <a:r>
                <a:t/>
              </a:r>
              <a:endPara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2"/>
          <p:cNvSpPr/>
          <p:nvPr/>
        </p:nvSpPr>
        <p:spPr>
          <a:xfrm>
            <a:off x="6761867" y="5975515"/>
            <a:ext cx="783967" cy="1018139"/>
          </a:xfrm>
          <a:custGeom>
            <a:rect b="b" l="l" r="r" t="t"/>
            <a:pathLst>
              <a:path extrusionOk="0" h="1018139" w="783967">
                <a:moveTo>
                  <a:pt x="0" y="0"/>
                </a:moveTo>
                <a:lnTo>
                  <a:pt x="783966" y="0"/>
                </a:lnTo>
                <a:lnTo>
                  <a:pt x="783966" y="1018139"/>
                </a:lnTo>
                <a:lnTo>
                  <a:pt x="0" y="1018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5338572" y="2891170"/>
            <a:ext cx="7646298" cy="471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1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5046315" y="3733285"/>
            <a:ext cx="7938555" cy="41857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Gestionar socios y actividades de un club deportivo mediante una plataforma web segura y escalable.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br>
              <a:rPr b="0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/>
        </p:nvSpPr>
        <p:spPr>
          <a:xfrm>
            <a:off x="7010400" y="1409700"/>
            <a:ext cx="10591800" cy="71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Alcance: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 Web con Arquitectura MVC.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Roles de Administrador, Socio y Miembro de Staff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Autenticación JWT y perfiles de usuario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ourier New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ourier New"/>
              <a:buChar char="o"/>
            </a:pPr>
            <a:r>
              <a:rPr b="0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Despliegue en servidor local con opción de migración a la nube.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Jugador de baloncesto driblando con la pelota en la pista" id="134" name="Google Shape;134;p3"/>
          <p:cNvPicPr preferRelativeResize="0"/>
          <p:nvPr/>
        </p:nvPicPr>
        <p:blipFill rotWithShape="1">
          <a:blip r:embed="rId3">
            <a:alphaModFix amt="70000"/>
          </a:blip>
          <a:srcRect b="0" l="29747" r="26292" t="0"/>
          <a:stretch/>
        </p:blipFill>
        <p:spPr>
          <a:xfrm>
            <a:off x="-304800" y="0"/>
            <a:ext cx="6781800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451632" y="1633013"/>
            <a:ext cx="17297400" cy="6046225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0" name="Google Shape;140;p4"/>
          <p:cNvGrpSpPr/>
          <p:nvPr/>
        </p:nvGrpSpPr>
        <p:grpSpPr>
          <a:xfrm>
            <a:off x="2370395" y="2180553"/>
            <a:ext cx="1879445" cy="1945519"/>
            <a:chOff x="0" y="-28575"/>
            <a:chExt cx="812800" cy="841375"/>
          </a:xfrm>
        </p:grpSpPr>
        <p:sp>
          <p:nvSpPr>
            <p:cNvPr id="141" name="Google Shape;141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1A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" name="Google Shape;143;p4"/>
          <p:cNvGrpSpPr/>
          <p:nvPr/>
        </p:nvGrpSpPr>
        <p:grpSpPr>
          <a:xfrm>
            <a:off x="8005098" y="2180553"/>
            <a:ext cx="1879445" cy="1945519"/>
            <a:chOff x="0" y="-28575"/>
            <a:chExt cx="812800" cy="841375"/>
          </a:xfrm>
        </p:grpSpPr>
        <p:sp>
          <p:nvSpPr>
            <p:cNvPr id="144" name="Google Shape;144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1A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" name="Google Shape;146;p4"/>
          <p:cNvGrpSpPr/>
          <p:nvPr/>
        </p:nvGrpSpPr>
        <p:grpSpPr>
          <a:xfrm>
            <a:off x="13950823" y="-395428"/>
            <a:ext cx="4663440" cy="5246370"/>
            <a:chOff x="0" y="0"/>
            <a:chExt cx="5370413" cy="6041715"/>
          </a:xfrm>
        </p:grpSpPr>
        <p:sp>
          <p:nvSpPr>
            <p:cNvPr id="147" name="Google Shape;147;p4"/>
            <p:cNvSpPr/>
            <p:nvPr/>
          </p:nvSpPr>
          <p:spPr>
            <a:xfrm>
              <a:off x="0" y="0"/>
              <a:ext cx="5370413" cy="6041715"/>
            </a:xfrm>
            <a:custGeom>
              <a:rect b="b" l="l" r="r" t="t"/>
              <a:pathLst>
                <a:path extrusionOk="0"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538C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4"/>
            <p:cNvSpPr/>
            <p:nvPr/>
          </p:nvSpPr>
          <p:spPr>
            <a:xfrm>
              <a:off x="0" y="0"/>
              <a:ext cx="5370413" cy="6041715"/>
            </a:xfrm>
            <a:custGeom>
              <a:rect b="b" l="l" r="r" t="t"/>
              <a:pathLst>
                <a:path extrusionOk="0" h="6041715" w="5370413">
                  <a:moveTo>
                    <a:pt x="5370413" y="0"/>
                  </a:moveTo>
                  <a:lnTo>
                    <a:pt x="5370413" y="6041715"/>
                  </a:lnTo>
                  <a:cubicBezTo>
                    <a:pt x="3580275" y="4027810"/>
                    <a:pt x="1790138" y="2013905"/>
                    <a:pt x="0" y="0"/>
                  </a:cubicBezTo>
                  <a:lnTo>
                    <a:pt x="5370413" y="0"/>
                  </a:lnTo>
                  <a:close/>
                </a:path>
              </a:pathLst>
            </a:custGeom>
            <a:solidFill>
              <a:srgbClr val="538CD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4"/>
          <p:cNvGrpSpPr/>
          <p:nvPr/>
        </p:nvGrpSpPr>
        <p:grpSpPr>
          <a:xfrm>
            <a:off x="13639800" y="2180553"/>
            <a:ext cx="1879445" cy="1945519"/>
            <a:chOff x="0" y="-28575"/>
            <a:chExt cx="812800" cy="841375"/>
          </a:xfrm>
        </p:grpSpPr>
        <p:sp>
          <p:nvSpPr>
            <p:cNvPr id="150" name="Google Shape;150;p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61AE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4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4"/>
          <p:cNvGrpSpPr/>
          <p:nvPr/>
        </p:nvGrpSpPr>
        <p:grpSpPr>
          <a:xfrm>
            <a:off x="829520" y="4428169"/>
            <a:ext cx="4961194" cy="1929754"/>
            <a:chOff x="0" y="-104775"/>
            <a:chExt cx="6614926" cy="2573007"/>
          </a:xfrm>
        </p:grpSpPr>
        <p:sp>
          <p:nvSpPr>
            <p:cNvPr id="153" name="Google Shape;153;p4"/>
            <p:cNvSpPr txBox="1"/>
            <p:nvPr/>
          </p:nvSpPr>
          <p:spPr>
            <a:xfrm>
              <a:off x="0" y="498460"/>
              <a:ext cx="6614926" cy="1969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Gestiona socios, actividades, pagos y perfiles de usuario.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"/>
            <p:cNvSpPr txBox="1"/>
            <p:nvPr/>
          </p:nvSpPr>
          <p:spPr>
            <a:xfrm>
              <a:off x="0" y="-104775"/>
              <a:ext cx="6614926" cy="656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Administrador</a:t>
              </a:r>
              <a:endPara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" name="Google Shape;155;p4"/>
          <p:cNvGrpSpPr/>
          <p:nvPr/>
        </p:nvGrpSpPr>
        <p:grpSpPr>
          <a:xfrm>
            <a:off x="6464223" y="4428169"/>
            <a:ext cx="4961249" cy="1929754"/>
            <a:chOff x="0" y="-104775"/>
            <a:chExt cx="6615000" cy="2573007"/>
          </a:xfrm>
        </p:grpSpPr>
        <p:sp>
          <p:nvSpPr>
            <p:cNvPr id="156" name="Google Shape;156;p4"/>
            <p:cNvSpPr txBox="1"/>
            <p:nvPr/>
          </p:nvSpPr>
          <p:spPr>
            <a:xfrm>
              <a:off x="0" y="498460"/>
              <a:ext cx="6615000" cy="196977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Consulta y modifica información personal, se inscribe a actividades.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4"/>
            <p:cNvSpPr txBox="1"/>
            <p:nvPr/>
          </p:nvSpPr>
          <p:spPr>
            <a:xfrm>
              <a:off x="0" y="-104775"/>
              <a:ext cx="6614926" cy="6565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Socio</a:t>
              </a:r>
              <a:endPara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8" name="Google Shape;158;p4"/>
          <p:cNvGrpSpPr/>
          <p:nvPr/>
        </p:nvGrpSpPr>
        <p:grpSpPr>
          <a:xfrm>
            <a:off x="12098926" y="4428169"/>
            <a:ext cx="4961249" cy="1437475"/>
            <a:chOff x="0" y="-104775"/>
            <a:chExt cx="6615000" cy="1916635"/>
          </a:xfrm>
        </p:grpSpPr>
        <p:sp>
          <p:nvSpPr>
            <p:cNvPr id="159" name="Google Shape;159;p4"/>
            <p:cNvSpPr txBox="1"/>
            <p:nvPr/>
          </p:nvSpPr>
          <p:spPr>
            <a:xfrm>
              <a:off x="0" y="498460"/>
              <a:ext cx="6615000" cy="131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Consulta inscriptos a actividades.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4"/>
            <p:cNvSpPr txBox="1"/>
            <p:nvPr/>
          </p:nvSpPr>
          <p:spPr>
            <a:xfrm>
              <a:off x="0" y="-104775"/>
              <a:ext cx="66150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STAFF</a:t>
              </a:r>
              <a:endPara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4"/>
          <p:cNvSpPr txBox="1"/>
          <p:nvPr/>
        </p:nvSpPr>
        <p:spPr>
          <a:xfrm>
            <a:off x="1077405" y="962025"/>
            <a:ext cx="5297596" cy="383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3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Actores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2" name="Google Shape;162;p4"/>
          <p:cNvGrpSpPr/>
          <p:nvPr/>
        </p:nvGrpSpPr>
        <p:grpSpPr>
          <a:xfrm>
            <a:off x="3029423" y="7934663"/>
            <a:ext cx="12458030" cy="2860670"/>
            <a:chOff x="0" y="-311540"/>
            <a:chExt cx="6615000" cy="1995863"/>
          </a:xfrm>
        </p:grpSpPr>
        <p:sp>
          <p:nvSpPr>
            <p:cNvPr id="163" name="Google Shape;163;p4"/>
            <p:cNvSpPr txBox="1"/>
            <p:nvPr/>
          </p:nvSpPr>
          <p:spPr>
            <a:xfrm>
              <a:off x="0" y="190323"/>
              <a:ext cx="6615000" cy="149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Gestiona autenticación, rutas y recordatorios automáticos.</a:t>
              </a:r>
              <a:endPara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4"/>
            <p:cNvSpPr txBox="1"/>
            <p:nvPr/>
          </p:nvSpPr>
          <p:spPr>
            <a:xfrm>
              <a:off x="0" y="-311540"/>
              <a:ext cx="6615000" cy="46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b="1" i="0" lang="en-US" sz="3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stema</a:t>
              </a:r>
              <a:endParaRPr b="1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75dfa87c4_0_0"/>
          <p:cNvSpPr txBox="1"/>
          <p:nvPr/>
        </p:nvSpPr>
        <p:spPr>
          <a:xfrm>
            <a:off x="4842165" y="1231900"/>
            <a:ext cx="10027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3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Requisitos Funcionales (Administrador)</a:t>
            </a:r>
            <a:endParaRPr b="1" i="0" sz="36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3575dfa87c4_0_0"/>
          <p:cNvSpPr/>
          <p:nvPr/>
        </p:nvSpPr>
        <p:spPr>
          <a:xfrm>
            <a:off x="581887" y="2302257"/>
            <a:ext cx="4946077" cy="2188186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Registrar nuevos socios o miembros del staff.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g3575dfa87c4_0_0"/>
          <p:cNvSpPr/>
          <p:nvPr/>
        </p:nvSpPr>
        <p:spPr>
          <a:xfrm>
            <a:off x="6242918" y="2715491"/>
            <a:ext cx="5217682" cy="2188186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Modificar información de los socios o miembros del staff.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575dfa87c4_0_0"/>
          <p:cNvSpPr/>
          <p:nvPr/>
        </p:nvSpPr>
        <p:spPr>
          <a:xfrm>
            <a:off x="12045083" y="2534747"/>
            <a:ext cx="5217682" cy="2522173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Dar de baja socios o miembros del staff (manteniendo su historial).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3575dfa87c4_0_0"/>
          <p:cNvSpPr/>
          <p:nvPr/>
        </p:nvSpPr>
        <p:spPr>
          <a:xfrm>
            <a:off x="581887" y="5282046"/>
            <a:ext cx="4946077" cy="4021094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Consultar el historial de un socio (info. personal, pagos realizados, actividades contratados, valor de cuota mensual, estado de pago de cuota).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g3575dfa87c4_0_0"/>
          <p:cNvSpPr/>
          <p:nvPr/>
        </p:nvSpPr>
        <p:spPr>
          <a:xfrm>
            <a:off x="6242918" y="6031506"/>
            <a:ext cx="5217682" cy="2522173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Registrar el pago de la cuota mensual de un socio.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575dfa87c4_0_0"/>
          <p:cNvSpPr/>
          <p:nvPr/>
        </p:nvSpPr>
        <p:spPr>
          <a:xfrm>
            <a:off x="12045083" y="6149940"/>
            <a:ext cx="5217682" cy="2522173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Consultar el estado de pago de cuota de un socio (al día o atrasado.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4786747" y="675731"/>
            <a:ext cx="10027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3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Requisitos Funcionales (Administrador)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581886" y="2185554"/>
            <a:ext cx="5217682" cy="313029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Publicar actividades (con su detalle, cargo por inscripción, fechas/horarios y miembro a cargo).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6535159" y="2638484"/>
            <a:ext cx="5217682" cy="2522172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actividad publicada, avisando a sus inscriptos (email a socios inscriptos).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12363737" y="2381504"/>
            <a:ext cx="4206299" cy="2522173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RF09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Archivar o eliminar actividad.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3326530" y="6336306"/>
            <a:ext cx="4946077" cy="2297518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Validar Comprobantes de Pago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9800647" y="6322960"/>
            <a:ext cx="5217682" cy="211558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36609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61AE"/>
                </a:solidFill>
                <a:latin typeface="Arial"/>
                <a:ea typeface="Arial"/>
                <a:cs typeface="Arial"/>
                <a:sym typeface="Arial"/>
              </a:rPr>
              <a:t>RF11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Registrar Pagos a Miembros del Staff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1405510" y="2820193"/>
            <a:ext cx="7388406" cy="3301750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rPr>
              <a:t>RF12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Consultar su historial (info. personal, pagos realizados, actividades a la que está inscripto, valor de cuota mensual, estado de pago de cuota).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0247349" y="3199108"/>
            <a:ext cx="5217682" cy="2008981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rPr>
              <a:t>RF13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 info. personal.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10029970" y="6912560"/>
            <a:ext cx="5217682" cy="2522173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rPr>
              <a:t>RF15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Inscribirse a actividades (eventos, clases y servicios)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2739675" y="7354099"/>
            <a:ext cx="4946077" cy="208063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7692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rPr>
              <a:t>RF14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Subir comprobante de pago.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 txBox="1"/>
          <p:nvPr/>
        </p:nvSpPr>
        <p:spPr>
          <a:xfrm>
            <a:off x="5112847" y="1170756"/>
            <a:ext cx="100278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3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76923C"/>
                </a:solidFill>
                <a:latin typeface="Arial"/>
                <a:ea typeface="Arial"/>
                <a:cs typeface="Arial"/>
                <a:sym typeface="Arial"/>
              </a:rPr>
              <a:t>Requisitos Funcionales (Socio)</a:t>
            </a:r>
            <a:endParaRPr b="0" i="0" sz="1400" u="none" cap="none" strike="noStrike">
              <a:solidFill>
                <a:srgbClr val="76923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"/>
          <p:cNvSpPr txBox="1"/>
          <p:nvPr/>
        </p:nvSpPr>
        <p:spPr>
          <a:xfrm>
            <a:off x="3888031" y="852266"/>
            <a:ext cx="115770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Requisitos Funcionales (Miembro del STAFF)</a:t>
            </a:r>
            <a:endParaRPr b="0" i="0" sz="1400" u="none" cap="none" strike="noStrike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623874" y="3199107"/>
            <a:ext cx="6196293" cy="2484739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RF16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Consultar listado de socios inscriptos a sus actividades.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9552299" y="3365202"/>
            <a:ext cx="5217682" cy="2008981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RF17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Consultar el monto a cobrar por sus actividades.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9552299" y="6721197"/>
            <a:ext cx="5217682" cy="2522173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RF19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Consultar historial de compensaciones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061738" y="7056123"/>
            <a:ext cx="6196293" cy="2235045"/>
          </a:xfrm>
          <a:prstGeom prst="roundRect">
            <a:avLst>
              <a:gd fmla="val 16667" name="adj"/>
            </a:avLst>
          </a:prstGeom>
          <a:noFill/>
          <a:ln cap="flat" cmpd="sng" w="57150">
            <a:solidFill>
              <a:srgbClr val="9537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953734"/>
                </a:solidFill>
                <a:latin typeface="Arial"/>
                <a:ea typeface="Arial"/>
                <a:cs typeface="Arial"/>
                <a:sym typeface="Arial"/>
              </a:rPr>
              <a:t>RF18</a:t>
            </a:r>
            <a:endParaRPr b="1" i="0" sz="2800" u="none" cap="none" strike="noStrike">
              <a:solidFill>
                <a:srgbClr val="95373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Consultar sus actividades iniciadas, finalizadas, archivadas o eliminadas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 txBox="1"/>
          <p:nvPr/>
        </p:nvSpPr>
        <p:spPr>
          <a:xfrm>
            <a:off x="914400" y="833217"/>
            <a:ext cx="7883814" cy="3836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3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NO Funcionales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3268579" y="1786314"/>
            <a:ext cx="13563600" cy="30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Rendimiento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RNF1: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Garantizar respuesta &lt;2s para 95% de solicitudes bajo carga normal (Consultas).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RNF2: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Optimizar consultas con índices y usar formatos webp para imágenes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 txBox="1"/>
          <p:nvPr/>
        </p:nvSpPr>
        <p:spPr>
          <a:xfrm>
            <a:off x="3268579" y="6438186"/>
            <a:ext cx="135636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Alta Disponibilidad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RNF3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Asegurar uptime del 99.9% (máx. 8.76h/año de inactividad).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RNF4: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backups de base de datos diarios.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ronómetro con relleno sólido" id="211" name="Google Shape;21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933700"/>
            <a:ext cx="182880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lecha: curva con sentido de las agujas del reloj con relleno sólido" id="212" name="Google Shape;21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00" y="6612186"/>
            <a:ext cx="1714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 txBox="1"/>
          <p:nvPr/>
        </p:nvSpPr>
        <p:spPr>
          <a:xfrm>
            <a:off x="3684896" y="6813100"/>
            <a:ext cx="9955604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Usabilidad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RNF9: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Diseñar interfaz con UX/UI intuitiva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 txBox="1"/>
          <p:nvPr/>
        </p:nvSpPr>
        <p:spPr>
          <a:xfrm>
            <a:off x="3684896" y="2095800"/>
            <a:ext cx="13158279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1" i="0" sz="3200" u="none" cap="none" strike="noStrike">
              <a:solidFill>
                <a:srgbClr val="538CD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RNF5: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Proveer autenticación con JWT y perfiles.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RNF6: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Proteger comunicaciones mediante HTTPS.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RNF7: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Cifrar contraseñas con Bcrypt.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538CD5"/>
                </a:solidFill>
                <a:latin typeface="Arial"/>
                <a:ea typeface="Arial"/>
                <a:cs typeface="Arial"/>
                <a:sym typeface="Arial"/>
              </a:rPr>
              <a:t>RNF8: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Incluir campos de auditoría en base de 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loquear con relleno sólido" id="219" name="Google Shape;21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1946" y="2629050"/>
            <a:ext cx="1981200" cy="198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suario con relleno sólido" id="220" name="Google Shape;22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858" y="6665403"/>
            <a:ext cx="2209800" cy="2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 txBox="1"/>
          <p:nvPr/>
        </p:nvSpPr>
        <p:spPr>
          <a:xfrm>
            <a:off x="914400" y="833217"/>
            <a:ext cx="7883700" cy="4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53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Requisitos NO Funcionales</a:t>
            </a:r>
            <a:endParaRPr b="1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9d220ca5a7_0_0"/>
          <p:cNvSpPr txBox="1"/>
          <p:nvPr/>
        </p:nvSpPr>
        <p:spPr>
          <a:xfrm>
            <a:off x="4800600" y="424846"/>
            <a:ext cx="868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Diagrama de 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g39d220ca5a7_0_0"/>
          <p:cNvPicPr preferRelativeResize="0"/>
          <p:nvPr/>
        </p:nvPicPr>
        <p:blipFill rotWithShape="1">
          <a:blip r:embed="rId3">
            <a:alphaModFix/>
          </a:blip>
          <a:srcRect b="0" l="0" r="0" t="6138"/>
          <a:stretch/>
        </p:blipFill>
        <p:spPr>
          <a:xfrm>
            <a:off x="4581038" y="1189238"/>
            <a:ext cx="9125924" cy="845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7b4a640d3_0_0"/>
          <p:cNvSpPr txBox="1"/>
          <p:nvPr/>
        </p:nvSpPr>
        <p:spPr>
          <a:xfrm>
            <a:off x="4800599" y="147796"/>
            <a:ext cx="868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Diagrama de </a:t>
            </a:r>
            <a:r>
              <a:rPr b="1" lang="en-US" sz="3600"/>
              <a:t>d</a:t>
            </a: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r>
              <a:rPr b="1" lang="en-US" sz="3600"/>
              <a:t>minio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3" name="Google Shape;233;g377b4a640d3_0_0"/>
          <p:cNvGrpSpPr/>
          <p:nvPr/>
        </p:nvGrpSpPr>
        <p:grpSpPr>
          <a:xfrm>
            <a:off x="0" y="951200"/>
            <a:ext cx="18288001" cy="9335799"/>
            <a:chOff x="0" y="951200"/>
            <a:chExt cx="18288001" cy="9335799"/>
          </a:xfrm>
        </p:grpSpPr>
        <p:pic>
          <p:nvPicPr>
            <p:cNvPr id="234" name="Google Shape;234;g377b4a640d3_0_0" title="diagrama-dominio (2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951200"/>
              <a:ext cx="18288001" cy="93357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5" name="Google Shape;235;g377b4a640d3_0_0"/>
            <p:cNvSpPr/>
            <p:nvPr/>
          </p:nvSpPr>
          <p:spPr>
            <a:xfrm>
              <a:off x="12092225" y="7937500"/>
              <a:ext cx="3401700" cy="14970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g377b4a640d3_0_0"/>
            <p:cNvSpPr/>
            <p:nvPr/>
          </p:nvSpPr>
          <p:spPr>
            <a:xfrm>
              <a:off x="11400975" y="9005600"/>
              <a:ext cx="3401700" cy="554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g377b4a640d3_0_0"/>
            <p:cNvSpPr/>
            <p:nvPr/>
          </p:nvSpPr>
          <p:spPr>
            <a:xfrm>
              <a:off x="2567225" y="4590150"/>
              <a:ext cx="1034100" cy="217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g377b4a640d3_0_0"/>
          <p:cNvSpPr/>
          <p:nvPr/>
        </p:nvSpPr>
        <p:spPr>
          <a:xfrm>
            <a:off x="6876925" y="6275700"/>
            <a:ext cx="4620600" cy="137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77b4a640d3_0_0"/>
          <p:cNvSpPr/>
          <p:nvPr/>
        </p:nvSpPr>
        <p:spPr>
          <a:xfrm>
            <a:off x="3999250" y="5234050"/>
            <a:ext cx="2614200" cy="55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77b4a640d3_0_0"/>
          <p:cNvSpPr/>
          <p:nvPr/>
        </p:nvSpPr>
        <p:spPr>
          <a:xfrm>
            <a:off x="5093500" y="5589100"/>
            <a:ext cx="1905000" cy="808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7b4a640d3_1_79"/>
          <p:cNvSpPr txBox="1"/>
          <p:nvPr/>
        </p:nvSpPr>
        <p:spPr>
          <a:xfrm>
            <a:off x="4148700" y="3892802"/>
            <a:ext cx="99906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500"/>
              <a:t>Estados</a:t>
            </a:r>
            <a:endParaRPr b="1" sz="6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77b4a640d3_1_96"/>
          <p:cNvSpPr/>
          <p:nvPr/>
        </p:nvSpPr>
        <p:spPr>
          <a:xfrm>
            <a:off x="955475" y="89275"/>
            <a:ext cx="14913000" cy="109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latin typeface="Calibri"/>
                <a:ea typeface="Calibri"/>
                <a:cs typeface="Calibri"/>
                <a:sym typeface="Calibri"/>
              </a:rPr>
              <a:t>Diagrama de estado - Usuario</a:t>
            </a:r>
            <a:endParaRPr b="1" sz="5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77b4a640d3_1_88"/>
          <p:cNvSpPr/>
          <p:nvPr/>
        </p:nvSpPr>
        <p:spPr>
          <a:xfrm>
            <a:off x="1381550" y="-142025"/>
            <a:ext cx="14913000" cy="109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latin typeface="Calibri"/>
                <a:ea typeface="Calibri"/>
                <a:cs typeface="Calibri"/>
                <a:sym typeface="Calibri"/>
              </a:rPr>
              <a:t>Diagrama de estado - Actividad</a:t>
            </a:r>
            <a:endParaRPr b="1" sz="5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7b4a640d3_1_112"/>
          <p:cNvSpPr/>
          <p:nvPr/>
        </p:nvSpPr>
        <p:spPr>
          <a:xfrm>
            <a:off x="955475" y="190725"/>
            <a:ext cx="16881300" cy="1095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latin typeface="Calibri"/>
                <a:ea typeface="Calibri"/>
                <a:cs typeface="Calibri"/>
                <a:sym typeface="Calibri"/>
              </a:rPr>
              <a:t>Diagrama de estado - Inscripción a una actividad</a:t>
            </a:r>
            <a:endParaRPr b="1" sz="53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g39d220ca5a7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5850" y="479725"/>
            <a:ext cx="10816283" cy="9327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g3a27d512f2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35325"/>
            <a:ext cx="18287999" cy="90163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g39d220ca5a7_0_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300" y="738188"/>
            <a:ext cx="17297400" cy="88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77b4a640d3_0_24"/>
          <p:cNvSpPr txBox="1"/>
          <p:nvPr/>
        </p:nvSpPr>
        <p:spPr>
          <a:xfrm>
            <a:off x="4800599" y="206804"/>
            <a:ext cx="868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Diagrama de </a:t>
            </a:r>
            <a:r>
              <a:rPr b="1" lang="en-US" sz="3600"/>
              <a:t>componentes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g377b4a640d3_0_24" title="DIAGRAMA DE COMPONENTES V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188" y="1405028"/>
            <a:ext cx="13595624" cy="731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77b4a640d3_1_44"/>
          <p:cNvSpPr txBox="1"/>
          <p:nvPr/>
        </p:nvSpPr>
        <p:spPr>
          <a:xfrm>
            <a:off x="4148700" y="3142502"/>
            <a:ext cx="99906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500"/>
              <a:t>Prototipo:</a:t>
            </a:r>
            <a:endParaRPr b="1" sz="65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500"/>
              <a:t>Pantallas del Administrador</a:t>
            </a:r>
            <a:endParaRPr b="1" i="0" sz="43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77b4a640d3_0_31"/>
          <p:cNvSpPr txBox="1"/>
          <p:nvPr/>
        </p:nvSpPr>
        <p:spPr>
          <a:xfrm>
            <a:off x="4800599" y="147796"/>
            <a:ext cx="8686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g377b4a640d3_0_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7998" cy="10287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g377b4a640d3_0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7999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g377b4a640d3_1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g377b4a640d3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2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g377b4a640d3_1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4275"/>
            <a:ext cx="18288001" cy="1039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77b4a640d3_1_40"/>
          <p:cNvSpPr txBox="1"/>
          <p:nvPr/>
        </p:nvSpPr>
        <p:spPr>
          <a:xfrm>
            <a:off x="4148700" y="3892802"/>
            <a:ext cx="9990600" cy="25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500"/>
              <a:t>Pantallas del Socio</a:t>
            </a:r>
            <a:endParaRPr b="1" sz="65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65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g377b4a640d3_1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1" cy="1028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77b4a640d3_1_68"/>
          <p:cNvSpPr txBox="1"/>
          <p:nvPr/>
        </p:nvSpPr>
        <p:spPr>
          <a:xfrm>
            <a:off x="4148700" y="3892802"/>
            <a:ext cx="9990600" cy="25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500"/>
              <a:t>Pantallas del Staff</a:t>
            </a:r>
            <a:endParaRPr b="1" sz="65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sz="65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dfc764d2a_0_0"/>
          <p:cNvSpPr txBox="1"/>
          <p:nvPr/>
        </p:nvSpPr>
        <p:spPr>
          <a:xfrm>
            <a:off x="4148700" y="3892802"/>
            <a:ext cx="9990600" cy="25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500"/>
              <a:t>Sistema </a:t>
            </a:r>
            <a:endParaRPr b="1" sz="6500"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500"/>
              <a:t>Un poco de </a:t>
            </a:r>
            <a:r>
              <a:rPr b="1" lang="en-US" sz="6500"/>
              <a:t>código</a:t>
            </a:r>
            <a:endParaRPr b="1" sz="65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36ceb680be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067314" cy="101345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8" name="Google Shape;358;g36ceb680be2_0_0"/>
          <p:cNvCxnSpPr/>
          <p:nvPr/>
        </p:nvCxnSpPr>
        <p:spPr>
          <a:xfrm flipH="1" rot="10800000">
            <a:off x="6302575" y="647500"/>
            <a:ext cx="3202800" cy="1340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59" name="Google Shape;359;g36ceb680be2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05386" y="426261"/>
            <a:ext cx="14147649" cy="265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36ceb680be2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66554" y="3641600"/>
            <a:ext cx="5801200" cy="566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5" name="Google Shape;365;g36ceb680be2_0_7"/>
          <p:cNvCxnSpPr/>
          <p:nvPr/>
        </p:nvCxnSpPr>
        <p:spPr>
          <a:xfrm flipH="1" rot="10800000">
            <a:off x="6302575" y="647500"/>
            <a:ext cx="3202800" cy="1340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66" name="Google Shape;366;g36ceb680be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g36ceb680be2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43307" y="2637000"/>
            <a:ext cx="8579525" cy="2066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g36ceb680be2_0_7"/>
          <p:cNvCxnSpPr/>
          <p:nvPr/>
        </p:nvCxnSpPr>
        <p:spPr>
          <a:xfrm flipH="1" rot="10800000">
            <a:off x="6964025" y="4424775"/>
            <a:ext cx="1705800" cy="2628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69" name="Google Shape;369;g36ceb680be2_0_7"/>
          <p:cNvSpPr/>
          <p:nvPr/>
        </p:nvSpPr>
        <p:spPr>
          <a:xfrm>
            <a:off x="11263325" y="3241150"/>
            <a:ext cx="5587500" cy="7485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g36ceb680be2_0_15"/>
          <p:cNvCxnSpPr/>
          <p:nvPr/>
        </p:nvCxnSpPr>
        <p:spPr>
          <a:xfrm flipH="1" rot="10800000">
            <a:off x="6302575" y="647500"/>
            <a:ext cx="3202800" cy="1340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75" name="Google Shape;375;g36ceb680be2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924969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g36ceb680be2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85825" y="3733100"/>
            <a:ext cx="13452400" cy="1130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g36ceb680be2_0_15"/>
          <p:cNvCxnSpPr/>
          <p:nvPr/>
        </p:nvCxnSpPr>
        <p:spPr>
          <a:xfrm flipH="1" rot="10800000">
            <a:off x="6528875" y="5051375"/>
            <a:ext cx="17400" cy="25587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78" name="Google Shape;378;g36ceb680be2_0_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23050" y="2388250"/>
            <a:ext cx="7615175" cy="6755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3" name="Google Shape;383;g36ceb680be2_0_24"/>
          <p:cNvCxnSpPr/>
          <p:nvPr/>
        </p:nvCxnSpPr>
        <p:spPr>
          <a:xfrm flipH="1" rot="10800000">
            <a:off x="6302575" y="647500"/>
            <a:ext cx="3202800" cy="13404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84" name="Google Shape;384;g36ceb680be2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9249696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g36ceb680be2_0_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64875" y="1900850"/>
            <a:ext cx="9719951" cy="47009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6" name="Google Shape;386;g36ceb680be2_0_24"/>
          <p:cNvCxnSpPr/>
          <p:nvPr/>
        </p:nvCxnSpPr>
        <p:spPr>
          <a:xfrm flipH="1" rot="10800000">
            <a:off x="7864875" y="6165475"/>
            <a:ext cx="2841600" cy="1966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9d220ca5a7_0_34"/>
          <p:cNvSpPr txBox="1"/>
          <p:nvPr/>
        </p:nvSpPr>
        <p:spPr>
          <a:xfrm>
            <a:off x="4148700" y="3892802"/>
            <a:ext cx="9990600" cy="25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-US" sz="6500"/>
              <a:t>Sistema en funcionamiento</a:t>
            </a:r>
            <a:endParaRPr b="1" i="0" sz="43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2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133" l="-5162" r="-5909" t="-593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7" name="Google Shape;397;p12"/>
          <p:cNvGrpSpPr/>
          <p:nvPr/>
        </p:nvGrpSpPr>
        <p:grpSpPr>
          <a:xfrm>
            <a:off x="2594505" y="6194442"/>
            <a:ext cx="6986223" cy="2881319"/>
            <a:chOff x="0" y="-47625"/>
            <a:chExt cx="1683906" cy="436276"/>
          </a:xfrm>
        </p:grpSpPr>
        <p:sp>
          <p:nvSpPr>
            <p:cNvPr id="398" name="Google Shape;398;p12"/>
            <p:cNvSpPr/>
            <p:nvPr/>
          </p:nvSpPr>
          <p:spPr>
            <a:xfrm>
              <a:off x="0" y="0"/>
              <a:ext cx="1683906" cy="388651"/>
            </a:xfrm>
            <a:custGeom>
              <a:rect b="b" l="l" r="r" t="t"/>
              <a:pathLst>
                <a:path extrusionOk="0" h="388651" w="1683906">
                  <a:moveTo>
                    <a:pt x="60544" y="0"/>
                  </a:moveTo>
                  <a:lnTo>
                    <a:pt x="1623361" y="0"/>
                  </a:lnTo>
                  <a:cubicBezTo>
                    <a:pt x="1639419" y="0"/>
                    <a:pt x="1654818" y="6379"/>
                    <a:pt x="1666173" y="17733"/>
                  </a:cubicBezTo>
                  <a:cubicBezTo>
                    <a:pt x="1677527" y="29087"/>
                    <a:pt x="1683906" y="44487"/>
                    <a:pt x="1683906" y="60544"/>
                  </a:cubicBezTo>
                  <a:lnTo>
                    <a:pt x="1683906" y="328106"/>
                  </a:lnTo>
                  <a:cubicBezTo>
                    <a:pt x="1683906" y="361544"/>
                    <a:pt x="1656799" y="388651"/>
                    <a:pt x="1623361" y="388651"/>
                  </a:cubicBezTo>
                  <a:lnTo>
                    <a:pt x="60544" y="388651"/>
                  </a:lnTo>
                  <a:cubicBezTo>
                    <a:pt x="27107" y="388651"/>
                    <a:pt x="0" y="361544"/>
                    <a:pt x="0" y="328106"/>
                  </a:cubicBezTo>
                  <a:lnTo>
                    <a:pt x="0" y="60544"/>
                  </a:lnTo>
                  <a:cubicBezTo>
                    <a:pt x="0" y="27107"/>
                    <a:pt x="27107" y="0"/>
                    <a:pt x="605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12"/>
            <p:cNvSpPr txBox="1"/>
            <p:nvPr/>
          </p:nvSpPr>
          <p:spPr>
            <a:xfrm>
              <a:off x="0" y="-47625"/>
              <a:ext cx="1683906" cy="436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0" name="Google Shape;400;p12"/>
          <p:cNvGrpSpPr/>
          <p:nvPr/>
        </p:nvGrpSpPr>
        <p:grpSpPr>
          <a:xfrm>
            <a:off x="2594505" y="2180034"/>
            <a:ext cx="13098989" cy="3496866"/>
            <a:chOff x="0" y="-47625"/>
            <a:chExt cx="3449940" cy="1061944"/>
          </a:xfrm>
        </p:grpSpPr>
        <p:sp>
          <p:nvSpPr>
            <p:cNvPr id="401" name="Google Shape;401;p12"/>
            <p:cNvSpPr/>
            <p:nvPr/>
          </p:nvSpPr>
          <p:spPr>
            <a:xfrm>
              <a:off x="0" y="0"/>
              <a:ext cx="3449939" cy="1014319"/>
            </a:xfrm>
            <a:custGeom>
              <a:rect b="b" l="l" r="r" t="t"/>
              <a:pathLst>
                <a:path extrusionOk="0" h="1014319" w="3449939">
                  <a:moveTo>
                    <a:pt x="29552" y="0"/>
                  </a:moveTo>
                  <a:lnTo>
                    <a:pt x="3420388" y="0"/>
                  </a:lnTo>
                  <a:cubicBezTo>
                    <a:pt x="3436709" y="0"/>
                    <a:pt x="3449939" y="13231"/>
                    <a:pt x="3449939" y="29552"/>
                  </a:cubicBezTo>
                  <a:lnTo>
                    <a:pt x="3449939" y="984767"/>
                  </a:lnTo>
                  <a:cubicBezTo>
                    <a:pt x="3449939" y="1001088"/>
                    <a:pt x="3436709" y="1014319"/>
                    <a:pt x="3420388" y="1014319"/>
                  </a:cubicBezTo>
                  <a:lnTo>
                    <a:pt x="29552" y="1014319"/>
                  </a:lnTo>
                  <a:cubicBezTo>
                    <a:pt x="13231" y="1014319"/>
                    <a:pt x="0" y="1001088"/>
                    <a:pt x="0" y="984767"/>
                  </a:cubicBezTo>
                  <a:lnTo>
                    <a:pt x="0" y="29552"/>
                  </a:lnTo>
                  <a:cubicBezTo>
                    <a:pt x="0" y="13231"/>
                    <a:pt x="13231" y="0"/>
                    <a:pt x="295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12"/>
            <p:cNvSpPr txBox="1"/>
            <p:nvPr/>
          </p:nvSpPr>
          <p:spPr>
            <a:xfrm>
              <a:off x="0" y="-47625"/>
              <a:ext cx="3449940" cy="1061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5555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2"/>
          <p:cNvGrpSpPr/>
          <p:nvPr/>
        </p:nvGrpSpPr>
        <p:grpSpPr>
          <a:xfrm>
            <a:off x="4221598" y="3270986"/>
            <a:ext cx="9844804" cy="1600590"/>
            <a:chOff x="0" y="-123825"/>
            <a:chExt cx="13126405" cy="2134120"/>
          </a:xfrm>
        </p:grpSpPr>
        <p:sp>
          <p:nvSpPr>
            <p:cNvPr id="404" name="Google Shape;404;p12"/>
            <p:cNvSpPr txBox="1"/>
            <p:nvPr/>
          </p:nvSpPr>
          <p:spPr>
            <a:xfrm>
              <a:off x="0" y="1463991"/>
              <a:ext cx="13126405" cy="5463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995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¿Preguntas?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2"/>
            <p:cNvSpPr txBox="1"/>
            <p:nvPr/>
          </p:nvSpPr>
          <p:spPr>
            <a:xfrm>
              <a:off x="0" y="-123825"/>
              <a:ext cx="13126405" cy="15377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1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999"/>
                <a:buFont typeface="Arial"/>
                <a:buNone/>
              </a:pPr>
              <a:r>
                <a:rPr b="1" i="0" lang="en-US" sz="69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MUCHAS GRACIAS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12"/>
          <p:cNvGrpSpPr/>
          <p:nvPr/>
        </p:nvGrpSpPr>
        <p:grpSpPr>
          <a:xfrm>
            <a:off x="2997140" y="6926996"/>
            <a:ext cx="5514542" cy="1859875"/>
            <a:chOff x="0" y="-47625"/>
            <a:chExt cx="7352723" cy="2479831"/>
          </a:xfrm>
        </p:grpSpPr>
        <p:sp>
          <p:nvSpPr>
            <p:cNvPr id="407" name="Google Shape;407;p12"/>
            <p:cNvSpPr txBox="1"/>
            <p:nvPr/>
          </p:nvSpPr>
          <p:spPr>
            <a:xfrm>
              <a:off x="0" y="-47625"/>
              <a:ext cx="7352723" cy="3932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Contacto: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2"/>
            <p:cNvSpPr txBox="1"/>
            <p:nvPr/>
          </p:nvSpPr>
          <p:spPr>
            <a:xfrm>
              <a:off x="0" y="465857"/>
              <a:ext cx="7352723" cy="19663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4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jaita@frd.utn.edu.ar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nfernandez@frd.utn.edu.ar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tmactavish@frd.utn.edu.ar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7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frugiero.@frd.utn.edu.ar</a:t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3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